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0"/>
  </p:normalViewPr>
  <p:slideViewPr>
    <p:cSldViewPr snapToGrid="0">
      <p:cViewPr varScale="1">
        <p:scale>
          <a:sx n="91" d="100"/>
          <a:sy n="91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CEBF5-36B6-AA42-A667-5308FC89397C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8CCCB-A627-FA45-BA0E-0B9727FC47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2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6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0B630-6B26-A467-2DEA-6EB3CE727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42102-3A2E-9154-D2CD-6B4412DFC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9324E-BAAB-BC1C-5116-2D2F41EF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2754C-CFBA-9BAB-B646-A54AD1FA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778BB-10F0-68A5-2836-89D20491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5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65CE-8D56-5C9A-0066-0F453456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2BE34-87B4-455A-D987-D2400DC14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87B05-B639-5D63-0B1D-D01849FB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A8B78-C0E1-4840-46C4-9346C1F5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44973-5741-313C-CEB9-A3CF5E29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8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73CD-914F-16AB-C04B-F7A14A17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18199-3F0C-0BEE-D67E-1EE32B1E5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BBDC-7BE3-34D0-83F1-2F92FD45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94519-7D21-6773-1397-88E74940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4D1F9-A760-4188-BDCB-AA34F864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6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12DB-21E4-678F-E5BC-B41E543DD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41067-6D24-F63D-2688-2684C5A1E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36EA1-4C50-CE72-9A69-C7A137FE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0AE9-7D85-B43D-C06B-B8BD4754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7BD08-944C-AF7D-24F5-EBE5270E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E55DE-FC22-C2DE-A193-E434FBA0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1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4D8F-D0DA-848E-E30D-C7ED97E60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F3405-F63D-BCAF-53BF-70C1DD99C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A933F-9BBA-9F15-8DE5-FD9CF2151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75D19-6C25-A31A-3FA6-4576F223C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6A729-C312-9916-048E-AED709A51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8AC6C-B470-9988-2B4F-6830F44F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95AB0-E7C5-738E-8CD9-D95DE5A8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364656-4B0C-499D-9F23-D248EBEA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9458-26B7-9716-1DF0-AFAD5BAC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F2BE0-0666-0F64-AAEB-849E012C2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12E42-4101-1F97-8960-699C736B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F26C4-2F75-3961-B29E-04907809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BEFC9-5957-FD00-9B1D-BC4E37752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5BBAA-4CE7-E698-37C6-52E2B9305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B029-9DA1-E607-87FA-ECF18842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65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99FC5-31BD-4EC2-4FFD-394F587C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84F8-C731-181D-85F8-73E85AE8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BCEBA-DD6B-2307-E8E2-83A1F2C78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12963-5E27-C1DB-2FC6-FC93031F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34625-E8DD-FA2E-B4BE-9D8716DB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66580-9040-7F4E-D1E6-65E4C7C1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0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1F64-72D0-8008-7C09-CCB72A8A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57F23-BD42-1152-AB5C-6F1C23937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BF725-0297-874D-A779-F8955C971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BFC71-A896-D5D8-649D-761189B6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A78AC-448C-C957-C7EC-D9840D353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F4981-C6F3-3E52-D128-18B06BCC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06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6A1F-7F57-EAD9-643B-767AA06B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BADFD-CF2E-9151-003C-0CC91AFD7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949D-6CE6-258A-022A-C7A414B4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13A2E-56FF-9AC5-8EFB-2E5F3001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75A53-2588-1DD8-FAC8-7A00027C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8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F90E4-3CFF-0716-ACFF-29C14E2FA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55697-DC67-8C38-E929-BDCAF526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0D4B-761B-7097-B70C-89EAF98B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5EB33-0C4D-8814-1D7D-761D82FF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0AE80-239D-C480-0CFC-B14F02D3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CB728-FC46-2254-989A-ED5CD75EC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DD6A-E720-703F-2C2A-41215AA7A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92E7E-455C-467A-8C0C-A687DDBF7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EAA19-FB0F-D34F-AF36-8709A3FBB2F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56839-7DC8-28A4-67D4-89D81E4DE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2D66-C3A5-4EA2-A13B-7DE3955BCA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43A93-AE46-0C43-BDA9-F64CC5ADB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3E40C-7625-5377-5013-A8CB39E460F3}"/>
              </a:ext>
            </a:extLst>
          </p:cNvPr>
          <p:cNvSpPr txBox="1"/>
          <p:nvPr/>
        </p:nvSpPr>
        <p:spPr>
          <a:xfrm>
            <a:off x="242551" y="1051157"/>
            <a:ext cx="11706896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遠くに知っている人を見て、その人が友だちだっ</a:t>
            </a:r>
            <a:r>
              <a:rPr lang="en-US" sz="2400" b="1" dirty="0" err="1">
                <a:solidFill>
                  <a:schemeClr val="accent2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たら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、手をふるだけでいいです</a:t>
            </a:r>
            <a:r>
              <a:rPr lang="en-US" sz="2400" b="1" dirty="0" err="1">
                <a:solidFill>
                  <a:srgbClr val="FF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その人が目上の人だっ</a:t>
            </a:r>
            <a:r>
              <a:rPr lang="en-US" sz="2400" b="1" dirty="0" err="1">
                <a:solidFill>
                  <a:schemeClr val="accent2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たら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、手をふるのではなくて、頭を少し下げたほうがいいです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DF9A86-6B92-70E5-9D3E-44109ED33066}"/>
              </a:ext>
            </a:extLst>
          </p:cNvPr>
          <p:cNvSpPr/>
          <p:nvPr/>
        </p:nvSpPr>
        <p:spPr>
          <a:xfrm>
            <a:off x="6877319" y="1953757"/>
            <a:ext cx="4108022" cy="53035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85F77-AAED-682F-B696-1FE1771B8F9E}"/>
              </a:ext>
            </a:extLst>
          </p:cNvPr>
          <p:cNvSpPr txBox="1"/>
          <p:nvPr/>
        </p:nvSpPr>
        <p:spPr>
          <a:xfrm>
            <a:off x="6877319" y="2684610"/>
            <a:ext cx="3886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Main point of the sentence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1FA9AB-1A14-1FA3-CFD6-6D961DE4213B}"/>
              </a:ext>
            </a:extLst>
          </p:cNvPr>
          <p:cNvSpPr txBox="1"/>
          <p:nvPr/>
        </p:nvSpPr>
        <p:spPr>
          <a:xfrm>
            <a:off x="242550" y="3877867"/>
            <a:ext cx="11295110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頭を少し下げたほうがいいです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  <a:p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In what context?</a:t>
            </a:r>
          </a:p>
          <a:p>
            <a:pPr marL="342900" indent="-342900">
              <a:buFont typeface="Wingdings" pitchFamily="2" charset="2"/>
              <a:buChar char="è"/>
            </a:pP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遠くに知っている人を見て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、</a:t>
            </a: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What are the contrasting situations (cf. </a:t>
            </a:r>
            <a:r>
              <a:rPr lang="en-US" sz="24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が</a:t>
            </a:r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)</a:t>
            </a:r>
          </a:p>
          <a:p>
            <a:r>
              <a:rPr lang="en-US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①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 その人が友だちだったら、手をふるだけでいいです。</a:t>
            </a:r>
            <a:endParaRPr lang="en-US" altLang="ja-JP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r>
              <a:rPr lang="en-US" altLang="ja-JP" sz="2400" dirty="0">
                <a:latin typeface="MS PGothic" panose="020B0600070205080204" pitchFamily="34" charset="-128"/>
                <a:ea typeface="MS PGothic" panose="020B0600070205080204" pitchFamily="34" charset="-128"/>
              </a:rPr>
              <a:t>②</a:t>
            </a:r>
            <a:r>
              <a:rPr lang="ja-JP" altLang="en-US" sz="2400">
                <a:latin typeface="MS PGothic" panose="020B0600070205080204" pitchFamily="34" charset="-128"/>
                <a:ea typeface="MS PGothic" panose="020B0600070205080204" pitchFamily="34" charset="-128"/>
              </a:rPr>
              <a:t> その人が目上の人だったら、手をふるのではなくて、頭を少し下げたほうがいいです。</a:t>
            </a:r>
            <a:endParaRPr lang="en-US" sz="24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8818E1D-3BA0-DD92-FFE6-75E993E2837A}"/>
              </a:ext>
            </a:extLst>
          </p:cNvPr>
          <p:cNvSpPr/>
          <p:nvPr/>
        </p:nvSpPr>
        <p:spPr>
          <a:xfrm>
            <a:off x="1623556" y="292818"/>
            <a:ext cx="1779601" cy="542858"/>
          </a:xfrm>
          <a:prstGeom prst="wedgeRoundRectCallout">
            <a:avLst>
              <a:gd name="adj1" fmla="val -3934"/>
              <a:gd name="adj2" fmla="val 96264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Context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5225DE-154E-0E52-1AB7-73FD7B8FB379}"/>
              </a:ext>
            </a:extLst>
          </p:cNvPr>
          <p:cNvSpPr/>
          <p:nvPr/>
        </p:nvSpPr>
        <p:spPr>
          <a:xfrm>
            <a:off x="205889" y="1229156"/>
            <a:ext cx="3466563" cy="530352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E5C7899-6FE6-EC81-EDE9-25C17A195D37}"/>
              </a:ext>
            </a:extLst>
          </p:cNvPr>
          <p:cNvSpPr/>
          <p:nvPr/>
        </p:nvSpPr>
        <p:spPr>
          <a:xfrm>
            <a:off x="3709115" y="1229156"/>
            <a:ext cx="6529589" cy="530352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43D339-5690-6E92-E6AD-F70F53C2253D}"/>
              </a:ext>
            </a:extLst>
          </p:cNvPr>
          <p:cNvSpPr/>
          <p:nvPr/>
        </p:nvSpPr>
        <p:spPr>
          <a:xfrm>
            <a:off x="242550" y="1857264"/>
            <a:ext cx="10736351" cy="734610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D75169-EEAE-DFF8-D233-65DECED75E8F}"/>
              </a:ext>
            </a:extLst>
          </p:cNvPr>
          <p:cNvSpPr txBox="1"/>
          <p:nvPr/>
        </p:nvSpPr>
        <p:spPr>
          <a:xfrm>
            <a:off x="6877319" y="737790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DB463-3840-8A46-82D9-25DC5FEB7064}"/>
              </a:ext>
            </a:extLst>
          </p:cNvPr>
          <p:cNvSpPr txBox="1"/>
          <p:nvPr/>
        </p:nvSpPr>
        <p:spPr>
          <a:xfrm>
            <a:off x="5003443" y="2599284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FD1A63A1-302A-5B9A-5E41-663A599309AB}"/>
              </a:ext>
            </a:extLst>
          </p:cNvPr>
          <p:cNvSpPr/>
          <p:nvPr/>
        </p:nvSpPr>
        <p:spPr>
          <a:xfrm>
            <a:off x="474201" y="2803860"/>
            <a:ext cx="3886128" cy="808749"/>
          </a:xfrm>
          <a:prstGeom prst="wedgeRoundRectCallout">
            <a:avLst>
              <a:gd name="adj1" fmla="val 28057"/>
              <a:gd name="adj2" fmla="val -92490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(short form past)</a:t>
            </a:r>
            <a:r>
              <a:rPr lang="en-US" sz="2400" dirty="0" err="1"/>
              <a:t>ら、B</a:t>
            </a:r>
            <a:r>
              <a:rPr lang="en-US" sz="2400" dirty="0"/>
              <a:t>。</a:t>
            </a:r>
          </a:p>
          <a:p>
            <a:pPr algn="ctr"/>
            <a:r>
              <a:rPr lang="en-US" sz="2400" dirty="0"/>
              <a:t>When/If A, B.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1F9E1D2A-4D22-F4CE-C7D0-D87B899B50F9}"/>
              </a:ext>
            </a:extLst>
          </p:cNvPr>
          <p:cNvSpPr/>
          <p:nvPr/>
        </p:nvSpPr>
        <p:spPr>
          <a:xfrm>
            <a:off x="9318204" y="159873"/>
            <a:ext cx="2526238" cy="808749"/>
          </a:xfrm>
          <a:prstGeom prst="wedgeRoundRectCallout">
            <a:avLst>
              <a:gd name="adj1" fmla="val 3511"/>
              <a:gd name="adj2" fmla="val 89049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Aが、B</a:t>
            </a:r>
            <a:r>
              <a:rPr lang="en-US" sz="2400" dirty="0"/>
              <a:t>。</a:t>
            </a:r>
          </a:p>
          <a:p>
            <a:pPr algn="ctr"/>
            <a:r>
              <a:rPr lang="en-US" sz="2400" dirty="0"/>
              <a:t>Although A, B.</a:t>
            </a:r>
          </a:p>
        </p:txBody>
      </p:sp>
    </p:spTree>
    <p:extLst>
      <p:ext uri="{BB962C8B-B14F-4D97-AF65-F5344CB8AC3E}">
        <p14:creationId xmlns:p14="http://schemas.microsoft.com/office/powerpoint/2010/main" val="233758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uiExpand="1" build="p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MS PGothic</vt:lpstr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2025-11-18T18:25:51Z</dcterms:created>
  <dcterms:modified xsi:type="dcterms:W3CDTF">2025-11-18T18:26:00Z</dcterms:modified>
</cp:coreProperties>
</file>