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D2D93-F729-9349-83AC-78B7113E4FF1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E7E2D-BF76-9545-81B6-BD158AC38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90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5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1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2954-CA83-4B1A-646B-A548E81DA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4AA87-90EB-E92C-27F8-85ADADB8B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7D8E2-BE8F-A33C-E2E5-C6536025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55810-E80E-06E3-7A63-90DE9E26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7A624-3573-7261-B3B9-B8F5CE48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4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59BE-882A-93C2-8BC9-484F7046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2912-39F7-22B8-3C21-5ACAA3592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DF37-0BD4-A947-6FD6-CC0F8032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FCD4-926D-19B8-EFC7-60A41F9D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AD1C2-4369-68FF-E52D-6AB935FD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3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86D6-D50A-73B8-0AE7-62377C191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E81FB-B969-9D49-04DD-39E491056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3A97B-94C0-BF6D-E6F2-1CE68FE4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0D78-77D5-117F-9F32-996FFCD4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21CB1-B473-A25D-B157-D7737030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03A4-CDB0-5A8D-73C4-DF98D227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E400B-8B44-C5CB-58A9-A96646A88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08D92-336B-701A-0746-A52191366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62E35-9403-229B-AB6D-9E534E94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0E323-D08A-CE01-025A-A1C951FC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51C7A-1E8A-E651-ED13-ADE76CDF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1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926B-A749-7CEC-15C5-4C503562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18741-A4CE-7DE5-D7A9-CB3D8E989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9E4AC-3D7F-16C9-45B7-8E119D5E7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525D5-9CF9-718A-99A8-2D33EFE53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66DEB-FB9A-E6F7-DBE9-19333E24F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EE7AD-C84A-901B-344D-DE8A007A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62444-0A02-84BF-3CA1-AE78FC0D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D6759-DF48-CA33-E28C-27FED975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1187-7374-53EC-554D-15391539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EFEFD-D435-8BF8-EBB3-2ADCD3E92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71814-45F5-AA2F-0D27-5D63CA36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23AA0-8674-696F-2C1F-AAC54C40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9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8F03B-D861-E66E-398E-0AEB1911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0EE6B-8B8C-965B-DEA6-525F366C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C08B-2B8F-C1FC-5674-AD534C7E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B33E-F079-FF00-908B-7FA8482F5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DDB8-6B06-D7B0-DF1A-3B23C788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4298F-DCEB-31C4-195E-E31B9EBDF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2A5C6-7E9F-9762-C121-B6F7A504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97A85-596F-D7D8-4774-4A297115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3295B-3D62-3848-C839-DE4816BC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7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54BA-0894-3E35-108D-241449AA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3090F-8590-4FC4-B56E-981E96279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DDA83-0CA2-57E4-DC55-633CC4FD6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13B77-6686-A2A2-4F97-7C69B8A7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7211D-749D-F113-91EA-553E75E9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B92F-E937-3A25-5622-0D08FAC1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DB05-D869-0902-8F7A-57EF3D5F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93020-0155-DC8D-C71B-CEA5E631B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A9A2D-6BFA-C853-3B37-4530F2F1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27E9-B779-5906-F0B8-55D75A8F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F37D2-FB6F-0FC0-5CAC-D5EE30DD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9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8A6F8-93EA-E211-AD73-883560248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5EBDD-4DC7-8023-B8AD-D351FD15A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F8C8-355A-1E09-8AB0-7301ABBB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125C0-E511-C9A0-C046-CFEA754F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7AE48-6709-045A-9CFD-307755F3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426EF-5248-7D0F-2116-72F67B57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B57B-8EB1-8353-6C3B-26F8A7D67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208B3-4FCF-9EB8-65A4-7416939F9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784D1-E0F7-A742-BC78-3DC8FBE1AC6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73852-DD58-A15F-4AC0-518B376BF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8D25-EE63-73A4-F6E0-4431109B9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F800E-44BF-9245-8127-BF85F3E7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2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FFDD3-D632-0B67-F91C-C2CED3BA0802}"/>
              </a:ext>
            </a:extLst>
          </p:cNvPr>
          <p:cNvSpPr txBox="1"/>
          <p:nvPr/>
        </p:nvSpPr>
        <p:spPr>
          <a:xfrm>
            <a:off x="242553" y="1249291"/>
            <a:ext cx="11706894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こうしゅう電話で話している人が、電話で話している人に「どうもすみません」とか「どうもありがとうございました」などと言って、おじぎをすることです。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D5EE5CB-5A94-D1C3-9D34-2AC3B87B336B}"/>
              </a:ext>
            </a:extLst>
          </p:cNvPr>
          <p:cNvSpPr/>
          <p:nvPr/>
        </p:nvSpPr>
        <p:spPr>
          <a:xfrm>
            <a:off x="332706" y="1309208"/>
            <a:ext cx="2575950" cy="68876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5590CA-C27E-05C0-E7C1-5FC520949D14}"/>
              </a:ext>
            </a:extLst>
          </p:cNvPr>
          <p:cNvSpPr/>
          <p:nvPr/>
        </p:nvSpPr>
        <p:spPr>
          <a:xfrm>
            <a:off x="332706" y="2027094"/>
            <a:ext cx="11616741" cy="125834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A080A-553D-94A1-F92E-D9F5DDFC1F29}"/>
              </a:ext>
            </a:extLst>
          </p:cNvPr>
          <p:cNvSpPr txBox="1"/>
          <p:nvPr/>
        </p:nvSpPr>
        <p:spPr>
          <a:xfrm>
            <a:off x="1097877" y="785988"/>
            <a:ext cx="1045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47A1B-1E9B-D76B-D41D-F7A21840435B}"/>
              </a:ext>
            </a:extLst>
          </p:cNvPr>
          <p:cNvSpPr txBox="1"/>
          <p:nvPr/>
        </p:nvSpPr>
        <p:spPr>
          <a:xfrm>
            <a:off x="5186937" y="1474757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Comment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E4292158-5CAC-E3CB-8412-DC30BC337C7E}"/>
              </a:ext>
            </a:extLst>
          </p:cNvPr>
          <p:cNvSpPr/>
          <p:nvPr/>
        </p:nvSpPr>
        <p:spPr>
          <a:xfrm>
            <a:off x="3327042" y="398451"/>
            <a:ext cx="5537916" cy="775073"/>
          </a:xfrm>
          <a:prstGeom prst="wedgeRoundRectCallout">
            <a:avLst>
              <a:gd name="adj1" fmla="val -56579"/>
              <a:gd name="adj2" fmla="val 54192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の</a:t>
            </a:r>
            <a:r>
              <a:rPr lang="en-US" sz="2400" dirty="0"/>
              <a:t> nominalizes the phrase</a:t>
            </a:r>
          </a:p>
          <a:p>
            <a:pPr algn="ctr"/>
            <a:r>
              <a:rPr lang="en-US" sz="2400" dirty="0"/>
              <a:t>Very strange -&gt; The very strange thing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355E6-3318-67A4-E709-AC6C40C8697A}"/>
              </a:ext>
            </a:extLst>
          </p:cNvPr>
          <p:cNvSpPr txBox="1"/>
          <p:nvPr/>
        </p:nvSpPr>
        <p:spPr>
          <a:xfrm>
            <a:off x="332706" y="4856294"/>
            <a:ext cx="9628918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800" dirty="0"/>
              <a:t>….? The main point comes at the end.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800" dirty="0"/>
              <a:t>….</a:t>
            </a: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おじぎをすることです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800" dirty="0"/>
              <a:t>Who bows? In what context? Look before the main point.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F584B16-EA3A-B8B1-C4F4-310BE4392FC5}"/>
              </a:ext>
            </a:extLst>
          </p:cNvPr>
          <p:cNvSpPr/>
          <p:nvPr/>
        </p:nvSpPr>
        <p:spPr>
          <a:xfrm>
            <a:off x="7323786" y="2539420"/>
            <a:ext cx="3131711" cy="68876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FC704352-2ED7-B166-7023-E452C5C3D112}"/>
              </a:ext>
            </a:extLst>
          </p:cNvPr>
          <p:cNvSpPr/>
          <p:nvPr/>
        </p:nvSpPr>
        <p:spPr>
          <a:xfrm>
            <a:off x="7323786" y="3835466"/>
            <a:ext cx="4632938" cy="775073"/>
          </a:xfrm>
          <a:prstGeom prst="wedgeRoundRectCallout">
            <a:avLst>
              <a:gd name="adj1" fmla="val -11145"/>
              <a:gd name="adj2" fmla="val -42183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こと</a:t>
            </a:r>
            <a:r>
              <a:rPr lang="en-US" sz="2400" dirty="0"/>
              <a:t> also nominalizes the phrase</a:t>
            </a:r>
          </a:p>
          <a:p>
            <a:pPr algn="ctr"/>
            <a:r>
              <a:rPr lang="en-US" sz="2400" dirty="0"/>
              <a:t>To bow -&gt; bowing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EFBFB-49B4-DEF2-9C03-27098F86E90C}"/>
              </a:ext>
            </a:extLst>
          </p:cNvPr>
          <p:cNvSpPr txBox="1"/>
          <p:nvPr/>
        </p:nvSpPr>
        <p:spPr>
          <a:xfrm>
            <a:off x="7323786" y="330841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Main point of the comment</a:t>
            </a:r>
          </a:p>
        </p:txBody>
      </p:sp>
    </p:spTree>
    <p:extLst>
      <p:ext uri="{BB962C8B-B14F-4D97-AF65-F5344CB8AC3E}">
        <p14:creationId xmlns:p14="http://schemas.microsoft.com/office/powerpoint/2010/main" val="259758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 animBg="1"/>
      <p:bldP spid="17" grpId="0" uiExpand="1" build="p" animBg="1"/>
      <p:bldP spid="18" grpId="0" animBg="1"/>
      <p:bldP spid="19" grpId="0" animBg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BAC545-A370-3DB8-1B5A-330C93B637C2}"/>
              </a:ext>
            </a:extLst>
          </p:cNvPr>
          <p:cNvSpPr txBox="1"/>
          <p:nvPr/>
        </p:nvSpPr>
        <p:spPr>
          <a:xfrm>
            <a:off x="325192" y="399459"/>
            <a:ext cx="11706894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こうしゅう電話で話している人</a:t>
            </a:r>
            <a:r>
              <a:rPr lang="en-US" sz="2800" b="1" dirty="0">
                <a:solidFill>
                  <a:srgbClr val="FF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、電話で話している人</a:t>
            </a:r>
            <a:r>
              <a:rPr lang="en-US" sz="2800" b="1" dirty="0">
                <a:solidFill>
                  <a:schemeClr val="accent5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「どうもすみません」とか「どうもありがとうございました」など</a:t>
            </a:r>
            <a:r>
              <a:rPr lang="en-US" sz="2800" b="1" dirty="0">
                <a:solidFill>
                  <a:schemeClr val="accent2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と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言って、おじぎをすることです。</a:t>
            </a:r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F2F3DF7E-76D4-28C7-4109-5619E6989BA2}"/>
              </a:ext>
            </a:extLst>
          </p:cNvPr>
          <p:cNvSpPr/>
          <p:nvPr/>
        </p:nvSpPr>
        <p:spPr>
          <a:xfrm>
            <a:off x="3846303" y="317498"/>
            <a:ext cx="2399950" cy="509874"/>
          </a:xfrm>
          <a:prstGeom prst="wedgeRoundRectCallout">
            <a:avLst>
              <a:gd name="adj1" fmla="val 1914"/>
              <a:gd name="adj2" fmla="val 10218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Subject marker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5BF1E21A-870E-5074-83D8-F42BEBE4A7B8}"/>
              </a:ext>
            </a:extLst>
          </p:cNvPr>
          <p:cNvSpPr/>
          <p:nvPr/>
        </p:nvSpPr>
        <p:spPr>
          <a:xfrm>
            <a:off x="6246253" y="2719107"/>
            <a:ext cx="2425333" cy="509874"/>
          </a:xfrm>
          <a:prstGeom prst="wedgeRoundRectCallout">
            <a:avLst>
              <a:gd name="adj1" fmla="val -29504"/>
              <a:gd name="adj2" fmla="val -107465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Subject’s action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E29FFA-3D50-DD28-A4CF-8FB8F85BFD05}"/>
              </a:ext>
            </a:extLst>
          </p:cNvPr>
          <p:cNvSpPr txBox="1"/>
          <p:nvPr/>
        </p:nvSpPr>
        <p:spPr>
          <a:xfrm>
            <a:off x="375814" y="3411553"/>
            <a:ext cx="11571666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・・・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おじぎをすることです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/>
              <a:t>Who bows?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こうしゅう電話で話している人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>
                <a:ea typeface="MS PGothic" panose="020B0600070205080204" pitchFamily="34" charset="-128"/>
              </a:rPr>
              <a:t>To whom?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電話で話している人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/>
              <a:t>Saying what?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342900" indent="-342900">
              <a:buFont typeface="Wingdings" pitchFamily="2" charset="2"/>
              <a:buChar char="è"/>
            </a:pP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「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どうもすみません」とか「どうもありがとうございました」などと言って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0E452AC1-E25A-8327-1E6A-2CDE1E63330F}"/>
              </a:ext>
            </a:extLst>
          </p:cNvPr>
          <p:cNvSpPr/>
          <p:nvPr/>
        </p:nvSpPr>
        <p:spPr>
          <a:xfrm>
            <a:off x="6867285" y="203496"/>
            <a:ext cx="3474450" cy="680250"/>
          </a:xfrm>
          <a:prstGeom prst="wedgeRoundRectCallout">
            <a:avLst>
              <a:gd name="adj1" fmla="val -3470"/>
              <a:gd name="adj2" fmla="val 92718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Marks the person to whom </a:t>
            </a:r>
            <a:r>
              <a:rPr lang="en-US" sz="2400" dirty="0" err="1"/>
              <a:t>おじぎをする</a:t>
            </a:r>
            <a:endParaRPr lang="en-US" sz="2400" dirty="0"/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CCDC29E3-D7F3-7F3C-6544-A94C914D5480}"/>
              </a:ext>
            </a:extLst>
          </p:cNvPr>
          <p:cNvSpPr/>
          <p:nvPr/>
        </p:nvSpPr>
        <p:spPr>
          <a:xfrm>
            <a:off x="3490175" y="2719107"/>
            <a:ext cx="2592945" cy="509874"/>
          </a:xfrm>
          <a:prstGeom prst="wedgeRoundRectCallout">
            <a:avLst>
              <a:gd name="adj1" fmla="val 44284"/>
              <a:gd name="adj2" fmla="val -117569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Quotation marker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BD74020-45C0-2E18-F9A3-3C513C2DFFC4}"/>
              </a:ext>
            </a:extLst>
          </p:cNvPr>
          <p:cNvSpPr/>
          <p:nvPr/>
        </p:nvSpPr>
        <p:spPr>
          <a:xfrm>
            <a:off x="375814" y="533867"/>
            <a:ext cx="2575950" cy="560764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7CE0E1-9039-7F44-0A53-286BF5AE90C3}"/>
              </a:ext>
            </a:extLst>
          </p:cNvPr>
          <p:cNvSpPr txBox="1"/>
          <p:nvPr/>
        </p:nvSpPr>
        <p:spPr>
          <a:xfrm>
            <a:off x="1202252" y="68617"/>
            <a:ext cx="92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180C7B3-327C-300A-B410-B0B56D47C3BF}"/>
              </a:ext>
            </a:extLst>
          </p:cNvPr>
          <p:cNvSpPr/>
          <p:nvPr/>
        </p:nvSpPr>
        <p:spPr>
          <a:xfrm>
            <a:off x="7466413" y="1824787"/>
            <a:ext cx="3131711" cy="484286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0A371C-7282-D934-30BA-42D80A9386F5}"/>
              </a:ext>
            </a:extLst>
          </p:cNvPr>
          <p:cNvSpPr txBox="1"/>
          <p:nvPr/>
        </p:nvSpPr>
        <p:spPr>
          <a:xfrm>
            <a:off x="7350503" y="2338651"/>
            <a:ext cx="3932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Main point of the comment</a:t>
            </a:r>
          </a:p>
        </p:txBody>
      </p:sp>
    </p:spTree>
    <p:extLst>
      <p:ext uri="{BB962C8B-B14F-4D97-AF65-F5344CB8AC3E}">
        <p14:creationId xmlns:p14="http://schemas.microsoft.com/office/powerpoint/2010/main" val="201215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uiExpand="1" build="p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21DDA-4472-3A52-75F7-A58189492428}"/>
              </a:ext>
            </a:extLst>
          </p:cNvPr>
          <p:cNvSpPr txBox="1"/>
          <p:nvPr/>
        </p:nvSpPr>
        <p:spPr>
          <a:xfrm>
            <a:off x="242553" y="1249291"/>
            <a:ext cx="11706894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とてもおかしいのは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こうしゅう電話で話している人が、電話で話している人に「どうもすみません」とか「どうもありがとうございました」などと言って、おじぎをすることです。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4BF40C-1C60-3070-65BA-89A1846DD3E7}"/>
              </a:ext>
            </a:extLst>
          </p:cNvPr>
          <p:cNvSpPr/>
          <p:nvPr/>
        </p:nvSpPr>
        <p:spPr>
          <a:xfrm>
            <a:off x="332706" y="1309208"/>
            <a:ext cx="2575950" cy="68876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6A9D3-034C-84E5-1FEE-B4999D37FF51}"/>
              </a:ext>
            </a:extLst>
          </p:cNvPr>
          <p:cNvSpPr txBox="1"/>
          <p:nvPr/>
        </p:nvSpPr>
        <p:spPr>
          <a:xfrm>
            <a:off x="1097877" y="785988"/>
            <a:ext cx="1045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9190C-826C-9B96-E6A7-A0BDFCC58FCE}"/>
              </a:ext>
            </a:extLst>
          </p:cNvPr>
          <p:cNvSpPr/>
          <p:nvPr/>
        </p:nvSpPr>
        <p:spPr>
          <a:xfrm>
            <a:off x="7323786" y="2539420"/>
            <a:ext cx="2567189" cy="688769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86C21-CB6B-E05F-EF63-450A4B01E7E8}"/>
              </a:ext>
            </a:extLst>
          </p:cNvPr>
          <p:cNvSpPr txBox="1"/>
          <p:nvPr/>
        </p:nvSpPr>
        <p:spPr>
          <a:xfrm>
            <a:off x="7323786" y="330841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Main point of the 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DAC39-4199-4120-33E1-254B59DDF78D}"/>
              </a:ext>
            </a:extLst>
          </p:cNvPr>
          <p:cNvSpPr txBox="1"/>
          <p:nvPr/>
        </p:nvSpPr>
        <p:spPr>
          <a:xfrm>
            <a:off x="242553" y="4619685"/>
            <a:ext cx="3326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very strange thing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AE718-8797-01CB-DA9A-2087C32BF8D6}"/>
              </a:ext>
            </a:extLst>
          </p:cNvPr>
          <p:cNvSpPr txBox="1"/>
          <p:nvPr/>
        </p:nvSpPr>
        <p:spPr>
          <a:xfrm>
            <a:off x="10479110" y="4619685"/>
            <a:ext cx="1226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bowing.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13E49039-8C6B-51BF-F5CB-7DB8265B80E1}"/>
              </a:ext>
            </a:extLst>
          </p:cNvPr>
          <p:cNvSpPr/>
          <p:nvPr/>
        </p:nvSpPr>
        <p:spPr>
          <a:xfrm>
            <a:off x="4829350" y="283335"/>
            <a:ext cx="3902526" cy="1236075"/>
          </a:xfrm>
          <a:prstGeom prst="wedgeRoundRectCallout">
            <a:avLst>
              <a:gd name="adj1" fmla="val 5422"/>
              <a:gd name="adj2" fmla="val 81358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Who bows in what context?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3938B-DB3A-AFB8-FEA0-DA600AB8A4C5}"/>
              </a:ext>
            </a:extLst>
          </p:cNvPr>
          <p:cNvSpPr txBox="1"/>
          <p:nvPr/>
        </p:nvSpPr>
        <p:spPr>
          <a:xfrm>
            <a:off x="3726956" y="4248199"/>
            <a:ext cx="6593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person talking on the payphone says things like “I’m sorry” and “Thank you very much” to people they are talking to on the phone</a:t>
            </a:r>
          </a:p>
        </p:txBody>
      </p:sp>
    </p:spTree>
    <p:extLst>
      <p:ext uri="{BB962C8B-B14F-4D97-AF65-F5344CB8AC3E}">
        <p14:creationId xmlns:p14="http://schemas.microsoft.com/office/powerpoint/2010/main" val="43301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Macintosh PowerPoint</Application>
  <PresentationFormat>Widescreen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MS PGothic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2025-11-21T13:55:26Z</dcterms:created>
  <dcterms:modified xsi:type="dcterms:W3CDTF">2025-11-21T13:55:49Z</dcterms:modified>
</cp:coreProperties>
</file>